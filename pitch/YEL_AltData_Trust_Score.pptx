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B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AltData Trust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2AB08A"/>
                </a:solidFill>
                <a:latin typeface="Segoe UI"/>
              </a:rPr>
              <a:t>Credit for the credit-invisible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7A52"/>
                </a:solidFill>
                <a:latin typeface="Segoe UI"/>
              </a:rPr>
              <a:t>YOUTH ECONOMY LAB · IGDTUW · TRACK 1 · PROBLEM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Team SoloOx  · 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B08A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B2E24"/>
                </a:solidFill>
                <a:latin typeface="Segoe UI"/>
              </a:rPr>
              <a:t>Millions are locked out of credit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200" b="1">
                <a:solidFill>
                  <a:srgbClr val="1E7A52"/>
                </a:solidFill>
                <a:latin typeface="Segoe UI"/>
              </a:rPr>
              <a:t>▸ The excluded:  </a:t>
            </a:r>
            <a:r>
              <a:rPr sz="2000">
                <a:solidFill>
                  <a:srgbClr val="4A5A55"/>
                </a:solidFill>
                <a:latin typeface="Segoe UI"/>
              </a:rPr>
              <a:t>street vendors, gig workers and small farmers have no formal credit history — no bank statement, no credit score.</a:t>
            </a:r>
          </a:p>
          <a:p>
            <a:pPr>
              <a:spcAft>
                <a:spcPts val="1800"/>
              </a:spcAft>
            </a:pPr>
            <a:r>
              <a:rPr sz="2200" b="1">
                <a:solidFill>
                  <a:srgbClr val="1E7A52"/>
                </a:solidFill>
                <a:latin typeface="Segoe UI"/>
              </a:rPr>
              <a:t>▸ Not unreliable — unreadable:  </a:t>
            </a:r>
            <a:r>
              <a:rPr sz="2000">
                <a:solidFill>
                  <a:srgbClr val="4A5A55"/>
                </a:solidFill>
                <a:latin typeface="Segoe UI"/>
              </a:rPr>
              <a:t>banks simply have no way to judge reliability without paperwork or transaction history.</a:t>
            </a:r>
          </a:p>
          <a:p>
            <a:pPr>
              <a:spcAft>
                <a:spcPts val="1800"/>
              </a:spcAft>
            </a:pPr>
            <a:r>
              <a:rPr sz="2200" b="1">
                <a:solidFill>
                  <a:srgbClr val="1E7A52"/>
                </a:solidFill>
                <a:latin typeface="Segoe UI"/>
              </a:rPr>
              <a:t>▸ The cost:  </a:t>
            </a:r>
            <a:r>
              <a:rPr sz="2000">
                <a:solidFill>
                  <a:srgbClr val="4A5A55"/>
                </a:solidFill>
                <a:latin typeface="Segoe UI"/>
              </a:rPr>
              <a:t>they can't access working capital, savings or insurance — and stay stuck in the informal economy.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669280"/>
            <a:ext cx="10515600" cy="54864"/>
          </a:xfrm>
          <a:prstGeom prst="rect">
            <a:avLst/>
          </a:prstGeom>
          <a:solidFill>
            <a:srgbClr val="2AB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B08A"/>
                </a:solidFill>
                <a:latin typeface="Segoe UI"/>
              </a:rPr>
              <a:t>OUR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B2E24"/>
                </a:solidFill>
                <a:latin typeface="Segoe UI"/>
              </a:rPr>
              <a:t>Everyday signals → a trust score a lender can act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A5A55"/>
                </a:solidFill>
                <a:latin typeface="Segoe UI"/>
              </a:rPr>
              <a:t>Read reliability from the signals people already create — not from a bank statement.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743200"/>
            <a:ext cx="5120640" cy="1554480"/>
          </a:xfrm>
          <a:prstGeom prst="rect">
            <a:avLst/>
          </a:prstGeom>
          <a:solidFill>
            <a:srgbClr val="F4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97180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2E24"/>
                </a:solidFill>
                <a:latin typeface="Segoe UI"/>
              </a:rPr>
              <a:t>Income rhythm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2044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A55"/>
                </a:solidFill>
                <a:latin typeface="Segoe UI"/>
              </a:rPr>
              <a:t>volatility &amp; regularity of earnings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743200"/>
            <a:ext cx="5120640" cy="1554480"/>
          </a:xfrm>
          <a:prstGeom prst="rect">
            <a:avLst/>
          </a:prstGeom>
          <a:solidFill>
            <a:srgbClr val="F4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97180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2E24"/>
                </a:solidFill>
                <a:latin typeface="Segoe UI"/>
              </a:rPr>
              <a:t>Repayment punctuality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52044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A55"/>
                </a:solidFill>
                <a:latin typeface="Segoe UI"/>
              </a:rPr>
              <a:t>timeliness on informal / community loans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572000"/>
            <a:ext cx="5120640" cy="1554480"/>
          </a:xfrm>
          <a:prstGeom prst="rect">
            <a:avLst/>
          </a:prstGeom>
          <a:solidFill>
            <a:srgbClr val="F4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0060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2E24"/>
                </a:solidFill>
                <a:latin typeface="Segoe UI"/>
              </a:rPr>
              <a:t>Savings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4924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A55"/>
                </a:solidFill>
                <a:latin typeface="Segoe UI"/>
              </a:rPr>
              <a:t>share of income consistently saved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572000"/>
            <a:ext cx="5120640" cy="1554480"/>
          </a:xfrm>
          <a:prstGeom prst="rect">
            <a:avLst/>
          </a:prstGeom>
          <a:solidFill>
            <a:srgbClr val="F4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80060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2E24"/>
                </a:solidFill>
                <a:latin typeface="Segoe UI"/>
              </a:rPr>
              <a:t>Bill reliability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34924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A55"/>
                </a:solidFill>
                <a:latin typeface="Segoe UI"/>
              </a:rPr>
              <a:t>on-time recurring bill payments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400800"/>
            <a:ext cx="5120640" cy="1554480"/>
          </a:xfrm>
          <a:prstGeom prst="rect">
            <a:avLst/>
          </a:prstGeom>
          <a:solidFill>
            <a:srgbClr val="F4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662940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2E24"/>
                </a:solidFill>
                <a:latin typeface="Segoe UI"/>
              </a:rPr>
              <a:t>Digital footprint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717804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A55"/>
                </a:solidFill>
                <a:latin typeface="Segoe UI"/>
              </a:rPr>
              <a:t>KYC state, account age, depth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6400800"/>
            <a:ext cx="5120640" cy="1554480"/>
          </a:xfrm>
          <a:prstGeom prst="rect">
            <a:avLst/>
          </a:prstGeom>
          <a:solidFill>
            <a:srgbClr val="F4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662940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2E24"/>
                </a:solidFill>
                <a:latin typeface="Segoe UI"/>
              </a:rPr>
              <a:t>Community reputation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717804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A55"/>
                </a:solidFill>
                <a:latin typeface="Segoe UI"/>
              </a:rPr>
              <a:t>repeat customers, fulfilment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B08A"/>
                </a:solidFill>
                <a:latin typeface="Segoe U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B2E24"/>
                </a:solidFill>
                <a:latin typeface="Segoe UI"/>
              </a:rPr>
              <a:t>From alternative data to an explainable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77440"/>
            <a:ext cx="3383280" cy="2743200"/>
          </a:xfrm>
          <a:prstGeom prst="rect">
            <a:avLst/>
          </a:prstGeom>
          <a:solidFill>
            <a:srgbClr val="F4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2697480"/>
            <a:ext cx="640080" cy="640080"/>
          </a:xfrm>
          <a:prstGeom prst="rect">
            <a:avLst/>
          </a:prstGeom>
          <a:solidFill>
            <a:srgbClr val="1E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2E24"/>
                </a:solidFill>
                <a:latin typeface="Segoe UI"/>
              </a:rPr>
              <a:t>Alternative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A55"/>
                </a:solidFill>
                <a:latin typeface="Segoe UI"/>
              </a:rPr>
              <a:t>everyday signals incl. income bursts, repayments, bills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2377440"/>
            <a:ext cx="3383280" cy="2743200"/>
          </a:xfrm>
          <a:prstGeom prst="rect">
            <a:avLst/>
          </a:prstGeom>
          <a:solidFill>
            <a:srgbClr val="F4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2697480"/>
            <a:ext cx="640080" cy="640080"/>
          </a:xfrm>
          <a:prstGeom prst="rect">
            <a:avLst/>
          </a:prstGeom>
          <a:solidFill>
            <a:srgbClr val="1E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356616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2E24"/>
                </a:solidFill>
                <a:latin typeface="Segoe UI"/>
              </a:rPr>
              <a:t>Engineered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4206240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A55"/>
                </a:solidFill>
                <a:latin typeface="Segoe UI"/>
              </a:rPr>
              <a:t>volatility, punctuality, savings, footprint metrics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2377440"/>
            <a:ext cx="3383280" cy="2743200"/>
          </a:xfrm>
          <a:prstGeom prst="rect">
            <a:avLst/>
          </a:prstGeom>
          <a:solidFill>
            <a:srgbClr val="F4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2697480"/>
            <a:ext cx="640080" cy="640080"/>
          </a:xfrm>
          <a:prstGeom prst="rect">
            <a:avLst/>
          </a:prstGeom>
          <a:solidFill>
            <a:srgbClr val="1E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56616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2E24"/>
                </a:solidFill>
                <a:latin typeface="Segoe UI"/>
              </a:rPr>
              <a:t>LightGBM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206240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A55"/>
                </a:solidFill>
                <a:latin typeface="Segoe UI"/>
              </a:rPr>
              <a:t>predicts default from the alternative signals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577840"/>
            <a:ext cx="3383280" cy="2743200"/>
          </a:xfrm>
          <a:prstGeom prst="rect">
            <a:avLst/>
          </a:prstGeom>
          <a:solidFill>
            <a:srgbClr val="F4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5897880"/>
            <a:ext cx="640080" cy="640080"/>
          </a:xfrm>
          <a:prstGeom prst="rect">
            <a:avLst/>
          </a:prstGeom>
          <a:solidFill>
            <a:srgbClr val="1E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76656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2E24"/>
                </a:solidFill>
                <a:latin typeface="Segoe UI"/>
              </a:rPr>
              <a:t>Trust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7406640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A55"/>
                </a:solidFill>
                <a:latin typeface="Segoe UI"/>
              </a:rPr>
              <a:t>calibrated 300–850 lender-facing score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5577840"/>
            <a:ext cx="3383280" cy="2743200"/>
          </a:xfrm>
          <a:prstGeom prst="rect">
            <a:avLst/>
          </a:prstGeom>
          <a:solidFill>
            <a:srgbClr val="F4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09160" y="5897880"/>
            <a:ext cx="640080" cy="640080"/>
          </a:xfrm>
          <a:prstGeom prst="rect">
            <a:avLst/>
          </a:prstGeom>
          <a:solidFill>
            <a:srgbClr val="1E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676656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2E24"/>
                </a:solidFill>
                <a:latin typeface="Segoe UI"/>
              </a:rPr>
              <a:t>SHAP explain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7406640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A55"/>
                </a:solidFill>
                <a:latin typeface="Segoe UI"/>
              </a:rPr>
              <a:t>shows WHY the score was assigned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5577840"/>
            <a:ext cx="3383280" cy="2743200"/>
          </a:xfrm>
          <a:prstGeom prst="rect">
            <a:avLst/>
          </a:prstGeom>
          <a:solidFill>
            <a:srgbClr val="F4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21040" y="5897880"/>
            <a:ext cx="640080" cy="640080"/>
          </a:xfrm>
          <a:prstGeom prst="rect">
            <a:avLst/>
          </a:prstGeom>
          <a:solidFill>
            <a:srgbClr val="1E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676656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2E24"/>
                </a:solidFill>
                <a:latin typeface="Segoe UI"/>
              </a:rPr>
              <a:t>Risk product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7406640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A55"/>
                </a:solidFill>
                <a:latin typeface="Segoe UI"/>
              </a:rPr>
              <a:t>approval · limit · rate, fit to income pattern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B08A"/>
                </a:solidFill>
                <a:latin typeface="Segoe UI"/>
              </a:rPr>
              <a:t>THE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B2E24"/>
                </a:solidFill>
                <a:latin typeface="Segoe UI"/>
              </a:rPr>
              <a:t>Alternative signals dramatically beat a bank-only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3383280" cy="1737360"/>
          </a:xfrm>
          <a:prstGeom prst="rect">
            <a:avLst/>
          </a:prstGeom>
          <a:solidFill>
            <a:srgbClr val="F4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2E24"/>
                </a:solidFill>
                <a:latin typeface="Segoe UI"/>
              </a:rPr>
              <a:t>Baseline · bank-only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7A52"/>
                </a:solidFill>
                <a:latin typeface="Segoe UI"/>
              </a:rPr>
              <a:t>AUC 0.50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4A5A55"/>
                </a:solidFill>
                <a:latin typeface="Segoe UI"/>
              </a:rPr>
              <a:t>≈ random — banks can't read them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2194560"/>
            <a:ext cx="3383280" cy="1737360"/>
          </a:xfrm>
          <a:prstGeom prst="rect">
            <a:avLst/>
          </a:prstGeom>
          <a:solidFill>
            <a:srgbClr val="F4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37744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2E24"/>
                </a:solidFill>
                <a:latin typeface="Segoe UI"/>
              </a:rPr>
              <a:t>AltData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83464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7A52"/>
                </a:solidFill>
                <a:latin typeface="Segoe UI"/>
              </a:rPr>
              <a:t>AUC 0.78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42900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4A5A55"/>
                </a:solidFill>
                <a:latin typeface="Segoe UI"/>
              </a:rPr>
              <a:t>sees signals banks ignore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2194560"/>
            <a:ext cx="3383280" cy="1737360"/>
          </a:xfrm>
          <a:prstGeom prst="rect">
            <a:avLst/>
          </a:prstGeom>
          <a:solidFill>
            <a:srgbClr val="1E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37744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Improvement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83464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+0.28 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42900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meaningful, trustworthy lift</a:t>
            </a:r>
          </a:p>
        </p:txBody>
      </p:sp>
      <p:pic>
        <p:nvPicPr>
          <p:cNvPr id="16" name="Picture 15" descr="roc_a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4114800"/>
            <a:ext cx="3190997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B08A"/>
                </a:solidFill>
                <a:latin typeface="Segoe U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B2E24"/>
                </a:solidFill>
                <a:latin typeface="Segoe UI"/>
              </a:rPr>
              <a:t>Three real profiles, one consistent outcome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77440"/>
            <a:ext cx="3383280" cy="2926080"/>
          </a:xfrm>
          <a:prstGeom prst="rect">
            <a:avLst/>
          </a:prstGeom>
          <a:solidFill>
            <a:srgbClr val="F4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377440"/>
            <a:ext cx="3383280" cy="128016"/>
          </a:xfrm>
          <a:prstGeom prst="rect">
            <a:avLst/>
          </a:prstGeom>
          <a:solidFill>
            <a:srgbClr val="1E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2E24"/>
                </a:solidFill>
                <a:latin typeface="Segoe UI"/>
              </a:rPr>
              <a:t>Street vendor · Gig worker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7472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E7A52"/>
                </a:solidFill>
                <a:latin typeface="Segoe UI"/>
              </a:rPr>
              <a:t>Prime · ₹50,000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114800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A55"/>
                </a:solidFill>
                <a:latin typeface="Segoe UI"/>
              </a:rPr>
              <a:t>Approved — income-flexible credit 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2377440"/>
            <a:ext cx="3383280" cy="2926080"/>
          </a:xfrm>
          <a:prstGeom prst="rect">
            <a:avLst/>
          </a:prstGeom>
          <a:solidFill>
            <a:srgbClr val="F4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2377440"/>
            <a:ext cx="3383280" cy="128016"/>
          </a:xfrm>
          <a:prstGeom prst="rect">
            <a:avLst/>
          </a:prstGeom>
          <a:solidFill>
            <a:srgbClr val="2AB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743200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2E24"/>
                </a:solidFill>
                <a:latin typeface="Segoe UI"/>
              </a:rPr>
              <a:t>Small farmer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47472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AB08A"/>
                </a:solidFill>
                <a:latin typeface="Segoe UI"/>
              </a:rPr>
              <a:t>Sub-prime · ₹8,000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4114800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A55"/>
                </a:solidFill>
                <a:latin typeface="Segoe UI"/>
              </a:rPr>
              <a:t>Approved — crop-cycle aligned repayment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377440"/>
            <a:ext cx="3383280" cy="2926080"/>
          </a:xfrm>
          <a:prstGeom prst="rect">
            <a:avLst/>
          </a:prstGeom>
          <a:solidFill>
            <a:srgbClr val="F4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377440"/>
            <a:ext cx="3383280" cy="128016"/>
          </a:xfrm>
          <a:prstGeom prst="rect">
            <a:avLst/>
          </a:prstGeom>
          <a:solidFill>
            <a:srgbClr val="4A5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743200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2E24"/>
                </a:solidFill>
                <a:latin typeface="Segoe UI"/>
              </a:rPr>
              <a:t>High-risk vendor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47472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4A5A55"/>
                </a:solidFill>
                <a:latin typeface="Segoe UI"/>
              </a:rPr>
              <a:t>No pre-approval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114800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A55"/>
                </a:solidFill>
                <a:latin typeface="Segoe UI"/>
              </a:rPr>
              <a:t>Declined — guided path to build footprint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B08A"/>
                </a:solidFill>
                <a:latin typeface="Segoe UI"/>
              </a:rPr>
              <a:t>TRUST &amp;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B2E24"/>
                </a:solidFill>
                <a:latin typeface="Segoe UI"/>
              </a:rPr>
              <a:t>Explainable decisions, repeatable beyond credit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E7A52"/>
                </a:solidFill>
                <a:latin typeface="Segoe UI"/>
              </a:rPr>
              <a:t>SHAP shows WHY a score was assigned — a lender can trust an auditable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E7A52"/>
                </a:solidFill>
                <a:latin typeface="Segoe UI"/>
              </a:rPr>
              <a:t>▸ Transparency:  </a:t>
            </a:r>
            <a:r>
              <a:rPr sz="1600">
                <a:solidFill>
                  <a:srgbClr val="4A5A55"/>
                </a:solidFill>
                <a:latin typeface="Segoe UI"/>
              </a:rPr>
              <a:t>every score traces to concrete signals.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E7A52"/>
                </a:solidFill>
                <a:latin typeface="Segoe UI"/>
              </a:rPr>
              <a:t>▸ Fairness-ready:  </a:t>
            </a:r>
            <a:r>
              <a:rPr sz="1600">
                <a:solidFill>
                  <a:srgbClr val="4A5A55"/>
                </a:solidFill>
                <a:latin typeface="Segoe UI"/>
              </a:rPr>
              <a:t>clean inputs and audit trail for bias checks.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E7A52"/>
                </a:solidFill>
                <a:latin typeface="Segoe UI"/>
              </a:rPr>
              <a:t>▸ Portable:  </a:t>
            </a:r>
            <a:r>
              <a:rPr sz="1600">
                <a:solidFill>
                  <a:srgbClr val="4A5A55"/>
                </a:solidFill>
                <a:latin typeface="Segoe UI"/>
              </a:rPr>
              <a:t>same engine powers credit, savings &amp; insurance.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E7A52"/>
                </a:solidFill>
                <a:latin typeface="Segoe UI"/>
              </a:rPr>
              <a:t>▸ Fit-for-purpose:  </a:t>
            </a:r>
            <a:r>
              <a:rPr sz="1600">
                <a:solidFill>
                  <a:srgbClr val="4A5A55"/>
                </a:solidFill>
                <a:latin typeface="Segoe UI"/>
              </a:rPr>
              <a:t>products built around irregular income, not a salary.</a:t>
            </a:r>
          </a:p>
        </p:txBody>
      </p:sp>
      <p:pic>
        <p:nvPicPr>
          <p:cNvPr id="6" name="Picture 5" descr="feature_i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449233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B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2AB08A"/>
                </a:solidFill>
                <a:latin typeface="Segoe UI"/>
              </a:rPr>
              <a:t>▸ Run a live pilot  </a:t>
            </a:r>
            <a:r>
              <a:rPr sz="1800">
                <a:solidFill>
                  <a:srgbClr val="4A5A55"/>
                </a:solidFill>
                <a:latin typeface="Segoe UI"/>
              </a:rPr>
              <a:t>with a partner lender / MFI for real-world validation.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2AB08A"/>
                </a:solidFill>
                <a:latin typeface="Segoe UI"/>
              </a:rPr>
              <a:t>▸ Broaden signals  </a:t>
            </a:r>
            <a:r>
              <a:rPr sz="1800">
                <a:solidFill>
                  <a:srgbClr val="4A5A55"/>
                </a:solidFill>
                <a:latin typeface="Segoe UI"/>
              </a:rPr>
              <a:t>more data sources for richer, fairer scoring.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2AB08A"/>
                </a:solidFill>
                <a:latin typeface="Segoe UI"/>
              </a:rPr>
              <a:t>▸ Regulatory alignment  </a:t>
            </a:r>
            <a:r>
              <a:rPr sz="1800">
                <a:solidFill>
                  <a:srgbClr val="4A5A55"/>
                </a:solidFill>
                <a:latin typeface="Segoe UI"/>
              </a:rPr>
              <a:t>fair-lending &amp; explainability audits by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>
                <a:solidFill>
                  <a:srgbClr val="1E7A52"/>
                </a:solidFill>
                <a:latin typeface="Segoe UI"/>
              </a:rPr>
              <a:t>Thank you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Q&amp;A  ·  Team SoloOx  ·  yel-trust-score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